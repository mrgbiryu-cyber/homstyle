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9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.jpg"/><Relationship Id="rId2" Type="http://schemas.openxmlformats.org/officeDocument/2006/relationships/hyperlink" Target="https://homestyle.lge.co.kr/item?productId=G2511002336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omestyle.lge.co.kr/item?productId=G25120026411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homestyle.lge.co.kr/item?productId=G25080006948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homestyle.lge.co.kr/item?productId=G25070001781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homestyle.lge.co.kr/item?productId=G26050042684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homestyle.lge.co.kr/item?productId=G25110023368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homestyle.lge.co.kr/item?productId=G25110023359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homestyle.lge.co.kr/item?productId=G26020033567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homestyle.lge.co.kr/item?productId=G26030036471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homestyle.lge.co.kr/item?productId=G26030036470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homestyle.lge.co.kr/item?productId=G25080006948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homestyle.lge.co.kr/item?productId=G25110022880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homestyle.lge.co.kr/item?productId=G25120026411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homestyle.lge.co.kr/item?productId=G25110024764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homestyle.lge.co.kr/item?productId=G26030035534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homestyle.lge.co.kr/item?productId=G26070047242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s://homestyle.lge.co.kr/item?productId=G25070005769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hyperlink" Target="https://homestyle.lge.co.kr/item?productId=G26040039060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s://homestyle.lge.co.kr/item?productId=G26030036463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6384" y="603504"/>
            <a:ext cx="2880360" cy="310896"/>
          </a:xfrm>
          <a:prstGeom prst="roundRect">
            <a:avLst/>
          </a:prstGeom>
          <a:solidFill>
            <a:srgbClr val="730025"/>
          </a:solidFill>
          <a:ln w="10160">
            <a:solidFill>
              <a:srgbClr val="730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612648"/>
            <a:ext cx="28803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CUSTOMER DECISION DECK · 149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97864"/>
            <a:ext cx="6766560" cy="1389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dirty="0" err="1">
                <a:solidFill>
                  <a:srgbClr val="FFFFFF"/>
                </a:solidFill>
                <a:latin typeface="맑은 고딕"/>
              </a:rPr>
              <a:t>홈스타일</a:t>
            </a:r>
            <a:r>
              <a:rPr sz="29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900" b="1" dirty="0" err="1">
                <a:solidFill>
                  <a:srgbClr val="FFFFFF"/>
                </a:solidFill>
                <a:latin typeface="맑은 고딕"/>
              </a:rPr>
              <a:t>조합상품</a:t>
            </a:r>
            <a:r>
              <a:rPr sz="2900" b="1" dirty="0">
                <a:solidFill>
                  <a:srgbClr val="FFFFFF"/>
                </a:solidFill>
                <a:latin typeface="맑은 고딕"/>
              </a:rPr>
              <a:t>
3D </a:t>
            </a:r>
            <a:r>
              <a:rPr sz="2900" b="1" dirty="0" err="1">
                <a:solidFill>
                  <a:srgbClr val="FFFFFF"/>
                </a:solidFill>
                <a:latin typeface="맑은 고딕"/>
              </a:rPr>
              <a:t>규격</a:t>
            </a:r>
            <a:r>
              <a:rPr sz="29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900" b="1" dirty="0" err="1">
                <a:solidFill>
                  <a:srgbClr val="FFFFFF"/>
                </a:solidFill>
                <a:latin typeface="맑은 고딕"/>
              </a:rPr>
              <a:t>전달</a:t>
            </a:r>
            <a:r>
              <a:rPr sz="29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900" b="1" dirty="0" err="1">
                <a:solidFill>
                  <a:srgbClr val="FFFFFF"/>
                </a:solidFill>
                <a:latin typeface="맑은 고딕"/>
              </a:rPr>
              <a:t>기준</a:t>
            </a:r>
            <a:r>
              <a:rPr sz="29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900" b="1" dirty="0" err="1">
                <a:solidFill>
                  <a:srgbClr val="FFFFFF"/>
                </a:solidFill>
                <a:latin typeface="맑은 고딕"/>
              </a:rPr>
              <a:t>결정안</a:t>
            </a:r>
            <a:endParaRPr sz="29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3816" y="2944368"/>
            <a:ext cx="653796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 err="1">
                <a:solidFill>
                  <a:srgbClr val="D9DEE5"/>
                </a:solidFill>
                <a:latin typeface="맑은 고딕"/>
              </a:rPr>
              <a:t>구성품별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규격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·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조합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전체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규격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·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수량·부속품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처리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
16개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대표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패턴과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실제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상품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이미지로</a:t>
            </a:r>
            <a:r>
              <a:rPr sz="1400" b="0" dirty="0">
                <a:solidFill>
                  <a:srgbClr val="D9DEE5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9DEE5"/>
                </a:solidFill>
                <a:latin typeface="맑은 고딕"/>
              </a:rPr>
              <a:t>결정</a:t>
            </a:r>
            <a:endParaRPr sz="1400" b="0" dirty="0">
              <a:solidFill>
                <a:srgbClr val="D9DEE5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3816" y="6245352"/>
            <a:ext cx="1280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AEB5BD"/>
                </a:solidFill>
                <a:latin typeface="맑은 고딕"/>
              </a:rPr>
              <a:t>2026. 07. 28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6245352"/>
            <a:ext cx="2286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AEB5BD"/>
                </a:solidFill>
                <a:latin typeface="맑은 고딕"/>
              </a:rPr>
              <a:t>LG HomeStyle Data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907024"/>
            <a:ext cx="56692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0">
                <a:solidFill>
                  <a:srgbClr val="AEB5BD"/>
                </a:solidFill>
                <a:latin typeface="맑은 고딕"/>
              </a:rPr>
              <a:t>기준 문서 · 조합상품_3D변환_패턴목록_2026-07-27.html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658368"/>
            <a:ext cx="3749039" cy="5413248"/>
          </a:xfrm>
          <a:prstGeom prst="roundRect">
            <a:avLst/>
          </a:prstGeom>
          <a:solidFill>
            <a:srgbClr val="2B2D31"/>
          </a:solidFill>
          <a:ln w="10160">
            <a:solidFill>
              <a:srgbClr val="414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19872" y="932688"/>
            <a:ext cx="1536192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25110023368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996696"/>
            <a:ext cx="10972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57232" y="1097280"/>
            <a:ext cx="12984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맑은 고딕"/>
              </a:rPr>
              <a:t>침대+협탁+침대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7232" y="1527048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B9C0C8"/>
                </a:solidFill>
                <a:latin typeface="맑은 고딕"/>
              </a:rPr>
              <a:t>개별 vs 전체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441448"/>
            <a:ext cx="1536192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25080006948.jp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7" y="2505456"/>
            <a:ext cx="1097280" cy="1097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57232" y="2606040"/>
            <a:ext cx="12984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맑은 고딕"/>
              </a:rPr>
              <a:t>테이블+벤치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3035808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B9C0C8"/>
                </a:solidFill>
                <a:latin typeface="맑은 고딕"/>
              </a:rPr>
              <a:t>분리 Asset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3950208"/>
            <a:ext cx="1536192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G25120026411.jp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27" y="4014216"/>
            <a:ext cx="1097280" cy="1097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57232" y="4114800"/>
            <a:ext cx="12984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맑은 고딕"/>
              </a:rPr>
              <a:t>모듈 소파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4544568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B9C0C8"/>
                </a:solidFill>
                <a:latin typeface="맑은 고딕"/>
              </a:rPr>
              <a:t>조합 완료형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513832"/>
            <a:ext cx="1188720" cy="310896"/>
          </a:xfrm>
          <a:prstGeom prst="roundRect">
            <a:avLst/>
          </a:prstGeom>
          <a:solidFill>
            <a:srgbClr val="730025"/>
          </a:solidFill>
          <a:ln w="10160">
            <a:solidFill>
              <a:srgbClr val="730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5522976"/>
            <a:ext cx="1188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16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A. 비조합·단일상품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N01~N06  ‘+’가 있어도 하나의 제품인가?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34개 · 대표 사례 G25070001781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5070001781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G25070001781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LEXON AUDIO 미나 L 무드등 오디오 램프 조명+스피커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조명+스피커처럼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기능·모델명에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포함된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‘+’를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조합상품으로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볼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것인가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1A73E8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9552" y="2670048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 dirty="0">
                <a:solidFill>
                  <a:srgbClr val="202124"/>
                </a:solidFill>
                <a:latin typeface="맑은 고딕"/>
              </a:rPr>
              <a:t>A. </a:t>
            </a:r>
            <a:r>
              <a:rPr sz="969" b="1" dirty="0" err="1">
                <a:solidFill>
                  <a:srgbClr val="202124"/>
                </a:solidFill>
                <a:latin typeface="맑은 고딕"/>
              </a:rPr>
              <a:t>비조합</a:t>
            </a:r>
            <a:r>
              <a:rPr sz="96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969" b="1" dirty="0" err="1">
                <a:solidFill>
                  <a:srgbClr val="202124"/>
                </a:solidFill>
                <a:latin typeface="맑은 고딕"/>
              </a:rPr>
              <a:t>단일</a:t>
            </a:r>
            <a:r>
              <a:rPr sz="969" b="1" dirty="0">
                <a:solidFill>
                  <a:srgbClr val="202124"/>
                </a:solidFill>
                <a:latin typeface="맑은 고딕"/>
              </a:rPr>
              <a:t> Asset — </a:t>
            </a:r>
            <a:r>
              <a:rPr sz="969" b="1" dirty="0" err="1">
                <a:solidFill>
                  <a:srgbClr val="202124"/>
                </a:solidFill>
                <a:latin typeface="맑은 고딕"/>
              </a:rPr>
              <a:t>제품</a:t>
            </a:r>
            <a:r>
              <a:rPr sz="96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969" b="1" dirty="0" err="1">
                <a:solidFill>
                  <a:srgbClr val="202124"/>
                </a:solidFill>
                <a:latin typeface="맑은 고딕"/>
              </a:rPr>
              <a:t>전체</a:t>
            </a:r>
            <a:r>
              <a:rPr sz="969" b="1" dirty="0">
                <a:solidFill>
                  <a:srgbClr val="202124"/>
                </a:solidFill>
                <a:latin typeface="맑은 고딕"/>
              </a:rPr>
              <a:t> W/D/H 1세트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25328" y="2697479"/>
            <a:ext cx="694944" cy="310896"/>
          </a:xfrm>
          <a:prstGeom prst="roundRect">
            <a:avLst/>
          </a:prstGeom>
          <a:solidFill>
            <a:srgbClr val="1A73E8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25328" y="2706623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조명·스피커를 각각 component_seq로 분리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C. 단일 Asset과 내부 기능 정보를 함께 보관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‘+’가 기능·모델명·색상·옵션 연결이면 단일상품으로 처리합니다.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숫자를 합산하지 않고 완제품 외곽 W/D/H만 제공합니다.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A. 비조합·단일상품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R01  내부 수납 구성이 여러 개면 분리할까?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1개 · 대표 사례 G26050042684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6050042684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G26050042684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쿠시노 950폭 수납장(PL박스+책장형)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795922"/>
            <a:ext cx="4892040" cy="1937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 dirty="0" err="1">
                <a:solidFill>
                  <a:srgbClr val="202124"/>
                </a:solidFill>
                <a:latin typeface="맑은 고딕"/>
              </a:rPr>
              <a:t>PL박스와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책장형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수납부처럼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본체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안에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결합된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요소를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별도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상품으로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 볼 </a:t>
            </a:r>
            <a:r>
              <a:rPr sz="1019" b="1" dirty="0" err="1">
                <a:solidFill>
                  <a:srgbClr val="202124"/>
                </a:solidFill>
                <a:latin typeface="맑은 고딕"/>
              </a:rPr>
              <a:t>것인가</a:t>
            </a:r>
            <a:r>
              <a:rPr sz="1019" b="1" dirty="0">
                <a:solidFill>
                  <a:srgbClr val="202124"/>
                </a:solidFill>
                <a:latin typeface="맑은 고딕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조립된 수납장 1개 — 완제품 W/D/H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PL박스·책장부를 별도 component_seq로 분리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완제품 1행 + 내부 구성은 메타정보로 보관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3D Asset은 완제품 1개로 만들고 내부 구성은 설명 정보로 남깁니다.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외곽 W/D/H 1세트만 사용하며 내부 칸 치수는 대표 규격에서 제외합니다.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B. 침대·키즈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Y01  침대+협탁+침대는 각각 줄까, 한 세트로 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10개 · 대표 사례 G25110023368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5110023368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G25110023368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D2178A 뷰티레스트 자스민 퀸+슈퍼싱글 침대+협탁 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크기가 다른 침대 2개와 협탁을 하나의 W/D/H로 합칠 것인가?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침대 Q / 침대 SS / 협탁을 각각 별도 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사진 배치 기준으로 조합 전체 외곽 W/D/H 1행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세트 부모 1행 + 구성품별 W/D/H를 모두 제공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배치가 변할 수 있으므로 구성품별 치수를 기본으로 하고 세트 관계를 함께 제공합니다.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기계적 3축 합산 금지. 고정 나란히 배치일 때만 W=합, D/H=최대값입니다.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B. 침대·키즈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Y02  침대와 협탁은 독립 Asset인가?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17개 · 대표 사례 G25110023359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5110023359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G25110023359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D2178A 뷰티레스트 자스민 킹오브킹 침대+협탁 101 2개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침대 옆에서 자유롭게 이동하는 협탁을 침대 전체 규격에 포함할 것인가?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1A73E8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9552" y="2670048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A. 침대 1행 + 협탁 1행(수량은 별도)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25328" y="2697479"/>
            <a:ext cx="694944" cy="310896"/>
          </a:xfrm>
          <a:prstGeom prst="roundRect">
            <a:avLst/>
          </a:prstGeom>
          <a:solidFill>
            <a:srgbClr val="1A73E8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25328" y="2706623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침대와 협탁을 합친 전체 외곽 W/D/H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C. 침대 대표 규격만 제공하고 협탁은 제외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독립 이동 가능한 협탁은 별도 component_seq로 제공합니다.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침대와 협탁 치수를 각각 보존하며 침대 폭에 협탁 폭을 더하지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B. 침대·키즈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Y03  침대 패널·가드는 본체 치수에 포함할까?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4개 · 대표 사례 G26020033567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6020033567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G26020033567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베른 가죽침대 Q + 패널 60cm 2EA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침대에 고정되는 패널·가드를 별도 Asset으로 만들지, 조립된 외곽에 포함할지 결정이 필요합니다.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침대와 패널·가드를 각각 별도 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설치 완료 상태의 침대 전체 W/D/H 1행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전체 W/D/H + 패널·가드 부속품 메타정보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고정 설치되는 구조물은 조립 후 전체 외곽에 포함하고 부속 관계를 남깁니다.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전체 폭은 설치 방향·개수에 따라 계산하며 패널 폭을 무조건 더하지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B. 침대·키즈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Y05  유아동 침대+매트리스는 한 Asset인가?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14개 · 대표 사례 G26030036471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6030036471_alt3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G26030036471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한샘 티오 그로우 슬라이딩 딥 수납침대 SS+샘키즈 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프레임과 매트리스를 3D에서 하나로 만들지, 각각 교체 가능한 구성품으로 만들지 결정이 필요합니다.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프레임과 매트리스를 각각 별도 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침대 시스템 1개 — 설치 상태 전체 W/D/H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침대 1행 + 매트리스 규격을 부속 메타정보로 제공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기존 침대 정책과 맞춰 단일 Asset으로 처리하되 매트리스 규격은 추적 가능하게 보존합니다.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대표 W/D/H는 침대 외곽, 매트리스 W/D/H는 구성 메타정보로 구분합니다.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B. 침대·키즈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Y06  유아동 침대+가드(+책상)는 혼합 처리할까?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1개 · 대표 사례 G26030036470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6030036470_alt3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G26030036470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한샘 티오 그로우 슬라이딩 딥 수납침대 SS+가드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본체에 고정되는 가드와 독립 이동 가능한 책상·수납장을 같은 방식으로 처리할 수 없습니다.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모든 구성품을 각각 별도 Asset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모든 구성품을 하나의 조합 전체 Asset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침대+고정 가드는 통합, 이동 가구는 별도 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고정 여부에 따라 혼합 처리하는 방식이 실제 배치와 가장 잘 맞습니다.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통합부는 조립 외곽 W/D/H, 이동 가구는 각자 W/D/H를 제공합니다.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C. 가구 결합·모듈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Y07  식탁+의자·벤치는 조합 전체 치수가 필요한가?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12개 · 대표 사례 G25080006948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5080006948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G25080006948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Table + Bench 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테이블과 벤치·의자는 사용 중 위치가 바뀌므로 하나의 고정 외곽 규격을 정의하기 어렵습니다.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1A73E8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9552" y="2670048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A. 테이블 / 벤치 / 의자를 각각 별도 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25328" y="2697479"/>
            <a:ext cx="694944" cy="310896"/>
          </a:xfrm>
          <a:prstGeom prst="roundRect">
            <a:avLst/>
          </a:prstGeom>
          <a:solidFill>
            <a:srgbClr val="1A73E8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25328" y="2706623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대표 연출 배치의 전체 외곽 W/D/H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C. 테이블만 대표 규격으로 제공하고 좌석은 수량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구성품별 Asset과 수량을 제공하고 세트 ID로 연결합니다.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테이블·벤치·의자의 W/D/H를 각각 보존하며 전체 합산값은 만들지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C. 가구 결합·모듈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Y08  상판+다리는 완제품 한 개로 볼까?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1개 · 대표 사례 G25110022880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5110022880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G25110022880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베가 상판+위시본 다리 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조립 후 독립적으로 움직이지 않는 상판과 다리를 별도 Asset으로 전달할 필요가 있는지 결정합니다.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상판과 다리를 각각 별도 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조립 완료 테이블 1개 — 전체 W/D/H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완제품 1행 + 상판·다리 부품 메타정보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3D 전달은 완제품 1개, 부품 추적이 필요하면 내부 메타정보로 보관합니다.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완제품 외곽 W/D/H를 사용하고 부품 치수를 더해 대표값을 만들지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C. 가구 결합·모듈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Y09  모듈 소파는 모듈별인가, 조합 완료형인가?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20개 · 대표 사례 G25120026411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5120026411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G25120026411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톤카 소파 A1+A0+A1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판매 SKU가 특정 모듈 조합을 의미할 때 조합 완료형과 개별 모듈 중 어느 단위로 3D를 만들지 결정합니다.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A1 / A0 / A1 모듈을 각각 별도 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해당 SKU의 조합 완료 소파 1개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조합 완료 부모 1행 + 모듈별 치수·순서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렌더링은 SKU별 조합 완료형을 사용하고 재조합을 위해 모듈 순서를 함께 보존합니다.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대표 W/D/H는 조합 완료 외곽값이며 모듈 폭 단순합은 실제 결합값과 대조합니다.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D. 부속품·수량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Y10  소파+헤드레스트·쿠션은 어디까지 모델링할까?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5개 · 대표 사례 G25110024764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5110024764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G25110024764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밴쿠버 패브릭 소파 3.5인 + 헤드레스트 2EA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탈착 가능한 쿠션·헤드레스트를 독립 3D Asset으로 만들지 고객 정책이 필요합니다.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소파와 부속품을 각각 별도 Asset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부속품 장착 상태의 소파 1개만 제공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소파 본체 1행 + 부속품 종류·수량 메타정보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대표 규격은 소파 본체 기준으로 두고 부속품 종류와 수량을 별도 보존합니다.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헤드레스트 장착 시 높이가 달라지면 option_seq로 장착 상태 규격을 추가합니다.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C. 가구 결합·모듈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Y11  수납장 80+120cm는 전체 200cm인가?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10개 · 대표 사례 G26030035534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6030035534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G26030035534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한샘 클린트 모던 높은 거실장 200cm(80cm+120cm)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나란히 고정 설치하는 모듈인지, 각각 독립 배치 가능한 장인지에 따라 규격 단위가 달라집니다.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80cm장 / 120cm장을 각각 별도 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설치 완료 200cm 수납장 전체 W/D/H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전체 200cm 부모 1행 + 모듈별 W/D/H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상품명이 완성 폭을 명시하면 전체 규격을 제공하고 모듈별 치수도 추적합니다.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나란히 밀착 설치 시 W=80+120cm, D/H는 모듈 최대값입니다.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D. 부속품·수량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Y12  행거+후크·옷걸이는 별도 치수가 필요한가?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4개 · 대표 사례 G26070047242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6070047242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G26070047242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ON 폴 이동식 바지걸이 1단 행거 L + 후크20P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작은 후크·옷걸이를 독립 3D Asset으로 만들지, 수량 메타정보로만 제공할지 결정합니다.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행거와 후크를 각각 별도 Asset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E3F4F5"/>
          </a:solidFill>
          <a:ln w="1016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0B7B83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59552" y="3419856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B. 행거 본체 W/D/H + 후크 수량만 제공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25328" y="3447287"/>
            <a:ext cx="694944" cy="310896"/>
          </a:xfrm>
          <a:prstGeom prst="roundRect">
            <a:avLst/>
          </a:prstGeom>
          <a:solidFill>
            <a:srgbClr val="0B7B83"/>
          </a:solidFill>
          <a:ln w="1016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25328" y="3456431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C. 후크 장착 상태 전체 외곽 W/D/H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소형 부속품은 3D 범위에서 제외하고 본체 규격과 수량 메타만 제공합니다.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후크 개수로 행거 W/D/H를 곱하거나 합산하지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C. 가구 결합·모듈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Y13  옷장 모듈은 전체 폭과 개별 폭을 모두 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12개 · 대표 사례 G25070005769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5070005769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G25070005769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일상고백 클라로 옷장 280cm(이불장+거울장+행거장+서랍장)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설치 후 연속된 옷장으로 쓰지만 모듈 구성이 옵션별로 달라 전체·개별 규격을 함께 관리할지 결정합니다.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A. 모듈별 W/D/H만 제공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설치 완료 옷장 전체 W/D/H만 제공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0EAFB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4169663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C. 전체 부모 1행 + 모듈별 W/D/H와 순서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25328" y="4197096"/>
            <a:ext cx="694944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25328" y="4206240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전체 설치 폭과 모듈 구성을 모두 제공해야 옵션 변경과 3D 조립을 함께 지원할 수 있습니다.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전체 W는 설치 순서의 폭 합, D/H는 최대값이며 틈·몰딩은 명시값만 포함합니다.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D. 부속품·수량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Y14  1+1 상품의 폭을 두 배로 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3개 · 대표 사례 G26040039060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6040039060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G26040039060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한샘 PP 스퀘어 스툴 1+1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동일 스툴 2개는 배치가 정해져 있지 않으므로 규격과 수량을 분리해야 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1A73E8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9552" y="2670048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A. 스툴 W/D/H 1세트 + quantity=2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25328" y="2697479"/>
            <a:ext cx="694944" cy="310896"/>
          </a:xfrm>
          <a:prstGeom prst="roundRect">
            <a:avLst/>
          </a:prstGeom>
          <a:solidFill>
            <a:srgbClr val="1A73E8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25328" y="2706623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두 개를 나란히 놓은 W×2 전체 규격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C. 같은 치수의 구성품 행을 2개 생성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동일 Asset 하나와 수량을 전달하는 방식이 중복 제작을 막습니다.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W/D/H는 1개 기준이며 수량만 2로 기록합니다.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D. 부속품·수량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Y15  책상 액세서리 팩은 무엇을 3D로 만들까?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해당 패턴 1개 · 대표 사례 G26030036463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63624"/>
            <a:ext cx="445312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1115568" cy="310896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11155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A50034"/>
                </a:solidFill>
                <a:latin typeface="맑은 고딕"/>
              </a:rPr>
              <a:t>실제 상품 이미지</a:t>
            </a:r>
          </a:p>
        </p:txBody>
      </p:sp>
      <p:pic>
        <p:nvPicPr>
          <p:cNvPr id="11" name="Picture 10" descr="G26030036463_alt2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3054096" cy="3054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294376"/>
            <a:ext cx="120700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G26030036463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877824" y="5532120"/>
            <a:ext cx="3822191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>
                <a:solidFill>
                  <a:srgbClr val="202124"/>
                </a:solidFill>
                <a:latin typeface="맑은 고딕"/>
              </a:rPr>
              <a:t>한샘 각도조절 FRIENDS PACK(콘센트·조명·데스크패드+자석바)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925312"/>
            <a:ext cx="3794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69727D"/>
                </a:solidFill>
                <a:latin typeface="맑은 고딕"/>
              </a:rPr>
              <a:t>이미지·상품명: HomeStyle 상품 API · 클릭 시 PDP 이동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563624"/>
            <a:ext cx="6208776" cy="786384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728216"/>
            <a:ext cx="93268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맑은 고딕"/>
              </a:rPr>
              <a:t>고객 결정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73352"/>
            <a:ext cx="469087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19" b="1">
                <a:solidFill>
                  <a:srgbClr val="202124"/>
                </a:solidFill>
                <a:latin typeface="맑은 고딕"/>
              </a:rPr>
              <a:t>상품 자체가 여러 액세서리의 묶음이므로 패키지 전체 W/D/H는 실사용 형상을 설명하지 못합니다.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2542032"/>
            <a:ext cx="6208776" cy="62179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59552" y="2679191"/>
            <a:ext cx="310896" cy="310896"/>
          </a:xfrm>
          <a:prstGeom prst="roundRect">
            <a:avLst/>
          </a:prstGeom>
          <a:solidFill>
            <a:srgbClr val="1A73E8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9552" y="2670048"/>
            <a:ext cx="31089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651760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1">
                <a:solidFill>
                  <a:srgbClr val="202124"/>
                </a:solidFill>
                <a:latin typeface="맑은 고딕"/>
              </a:rPr>
              <a:t>A. 모델링 대상 부속품을 각각 별도 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25328" y="2697479"/>
            <a:ext cx="694944" cy="310896"/>
          </a:xfrm>
          <a:prstGeom prst="roundRect">
            <a:avLst/>
          </a:prstGeom>
          <a:solidFill>
            <a:srgbClr val="1A73E8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25328" y="2706623"/>
            <a:ext cx="6949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기본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0096" y="3291839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59552" y="3428999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16752" y="3401568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B. 패키지 박스 전체 W/D/H 1행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4041648"/>
            <a:ext cx="6208776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9552" y="4178808"/>
            <a:ext cx="310896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16752" y="4151376"/>
            <a:ext cx="495604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>
                <a:solidFill>
                  <a:srgbClr val="202124"/>
                </a:solidFill>
                <a:latin typeface="맑은 고딕"/>
              </a:rPr>
              <a:t>C. 3D 대상에서 제외하고 호환 정보만 제공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0096" y="4956048"/>
            <a:ext cx="6208776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5129784"/>
            <a:ext cx="49377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88038"/>
                </a:solidFill>
                <a:latin typeface="맑은 고딕"/>
              </a:rPr>
              <a:t>권고안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074920"/>
            <a:ext cx="5029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3D로 표현할 부속품만 component_seq로 분리하고 포장 규격은 제외합니다.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541264"/>
            <a:ext cx="5669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규격 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486400"/>
            <a:ext cx="501091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90" b="0">
                <a:solidFill>
                  <a:srgbClr val="69727D"/>
                </a:solidFill>
                <a:latin typeface="맑은 고딕"/>
              </a:rPr>
              <a:t>콘센트·조명·패드 치수를 각각 사용하며 서로 합산하지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6108192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고객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6071616"/>
            <a:ext cx="49834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3C4043"/>
                </a:solidFill>
                <a:latin typeface="맑은 고딕"/>
              </a:rPr>
              <a:t>□ A     □ B     □ C     □ 기타: ____________________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37744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A50034"/>
                </a:solidFill>
                <a:latin typeface="맑은 고딕"/>
              </a:rPr>
              <a:t>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9496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맑은 고딕"/>
              </a:rPr>
              <a:t>회신 시 아래 6개 원칙과 예외 패턴만 확정해 주세요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9727D"/>
                </a:solidFill>
                <a:latin typeface="맑은 고딕"/>
              </a:rPr>
              <a:t>각 대표 사례 장표의 A/B/C 선택을 회신하면 149개 상품에 규칙을 일괄 적용할 수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927080" cy="109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114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69727D"/>
                </a:solidFill>
                <a:latin typeface="맑은 고딕"/>
              </a:rPr>
              <a:t>HomeStyle 3D combination decision · 2026. 07.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25603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20" b="0">
                <a:solidFill>
                  <a:srgbClr val="69727D"/>
                </a:solidFill>
                <a:latin typeface="맑은 고딕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645920"/>
            <a:ext cx="52120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1810512"/>
            <a:ext cx="438912" cy="310896"/>
          </a:xfrm>
          <a:prstGeom prst="roundRect">
            <a:avLst/>
          </a:prstGeom>
          <a:solidFill>
            <a:srgbClr val="1A73E8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819656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92224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맑은 고딕"/>
              </a:rPr>
              <a:t>이동 가능한 구성품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67128"/>
            <a:ext cx="349300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69727D"/>
                </a:solidFill>
                <a:latin typeface="맑은 고딕"/>
              </a:rPr>
              <a:t>구성품별 W/D/H + set_id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819656"/>
            <a:ext cx="10515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맑은 고딕"/>
              </a:rPr>
              <a:t>□ 승인   □ 수정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645920"/>
            <a:ext cx="52120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7376" y="1810512"/>
            <a:ext cx="438912" cy="310896"/>
          </a:xfrm>
          <a:prstGeom prst="roundRect">
            <a:avLst/>
          </a:prstGeom>
          <a:solidFill>
            <a:srgbClr val="0B7B83"/>
          </a:solidFill>
          <a:ln w="10160">
            <a:solidFill>
              <a:srgbClr val="0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1819656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792224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맑은 고딕"/>
              </a:rPr>
              <a:t>고정 조립 구성품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167128"/>
            <a:ext cx="349300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69727D"/>
                </a:solidFill>
                <a:latin typeface="맑은 고딕"/>
              </a:rPr>
              <a:t>조립 완료 외곽 W/D/H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4976" y="1819656"/>
            <a:ext cx="10515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B7B83"/>
                </a:solidFill>
                <a:latin typeface="맑은 고딕"/>
              </a:rPr>
              <a:t>□ 승인   □ 수정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2990088"/>
            <a:ext cx="52120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7824" y="3154680"/>
            <a:ext cx="438912" cy="310896"/>
          </a:xfrm>
          <a:prstGeom prst="roundRect">
            <a:avLst/>
          </a:prstGeom>
          <a:solidFill>
            <a:srgbClr val="6F42C1"/>
          </a:solidFill>
          <a:ln w="101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163824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136392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맑은 고딕"/>
              </a:rPr>
              <a:t>부모+구성품 동시 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511296"/>
            <a:ext cx="349300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69727D"/>
                </a:solidFill>
                <a:latin typeface="맑은 고딕"/>
              </a:rPr>
              <a:t>필요 패턴만 parent/component 병행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3163824"/>
            <a:ext cx="10515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F42C1"/>
                </a:solidFill>
                <a:latin typeface="맑은 고딕"/>
              </a:rPr>
              <a:t>□ 승인   □ 수정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990088"/>
            <a:ext cx="52120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37376" y="3154680"/>
            <a:ext cx="438912" cy="310896"/>
          </a:xfrm>
          <a:prstGeom prst="roundRect">
            <a:avLst/>
          </a:prstGeom>
          <a:solidFill>
            <a:srgbClr val="E37400"/>
          </a:solidFill>
          <a:ln w="10160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3163824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136392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맑은 고딕"/>
              </a:rPr>
              <a:t>소형 부속품 모델링 범위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511296"/>
            <a:ext cx="349300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69727D"/>
                </a:solidFill>
                <a:latin typeface="맑은 고딕"/>
              </a:rPr>
              <a:t>쿠션·후크·콘센트 포함 여부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4976" y="3163824"/>
            <a:ext cx="10515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E37400"/>
                </a:solidFill>
                <a:latin typeface="맑은 고딕"/>
              </a:rPr>
              <a:t>□ 승인   □ 수정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" y="4334256"/>
            <a:ext cx="52120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77824" y="4498848"/>
            <a:ext cx="438912" cy="310896"/>
          </a:xfrm>
          <a:prstGeom prst="roundRect">
            <a:avLst/>
          </a:prstGeom>
          <a:solidFill>
            <a:srgbClr val="188038"/>
          </a:solidFill>
          <a:ln w="10160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4507992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48056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맑은 고딕"/>
              </a:rPr>
              <a:t>수량 상품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855464"/>
            <a:ext cx="349300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69727D"/>
                </a:solidFill>
                <a:latin typeface="맑은 고딕"/>
              </a:rPr>
              <a:t>규격 1세트 + quantity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5424" y="4507992"/>
            <a:ext cx="10515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88038"/>
                </a:solidFill>
                <a:latin typeface="맑은 고딕"/>
              </a:rPr>
              <a:t>□ 승인   □ 수정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4334256"/>
            <a:ext cx="52120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437376" y="4498848"/>
            <a:ext cx="438912" cy="310896"/>
          </a:xfrm>
          <a:prstGeom prst="roundRect">
            <a:avLst/>
          </a:prstGeom>
          <a:solidFill>
            <a:srgbClr val="A50034"/>
          </a:solidFill>
          <a:ln w="10160"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37376" y="4507992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48056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맑은 고딕"/>
              </a:rPr>
              <a:t>옵션 규격 분리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855464"/>
            <a:ext cx="349300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69727D"/>
                </a:solidFill>
                <a:latin typeface="맑은 고딕"/>
              </a:rPr>
              <a:t>외형이 달라질 때만 option_seq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4976" y="4507992"/>
            <a:ext cx="10515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A50034"/>
                </a:solidFill>
                <a:latin typeface="맑은 고딕"/>
              </a:rPr>
              <a:t>□ 승인   □ 수정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" y="5715000"/>
            <a:ext cx="10771632" cy="475488"/>
          </a:xfrm>
          <a:prstGeom prst="roundRect">
            <a:avLst/>
          </a:prstGeom>
          <a:solidFill>
            <a:srgbClr val="FBE7EE"/>
          </a:solidFill>
          <a:ln w="10160">
            <a:solidFill>
              <a:srgbClr val="FB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6112" y="5852160"/>
            <a:ext cx="960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1">
                <a:solidFill>
                  <a:srgbClr val="A50034"/>
                </a:solidFill>
                <a:latin typeface="맑은 고딕"/>
              </a:rPr>
              <a:t>회신 형식 예시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75104" y="5815584"/>
            <a:ext cx="818387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1">
                <a:solidFill>
                  <a:srgbClr val="202124"/>
                </a:solidFill>
                <a:latin typeface="맑은 고딕"/>
              </a:rPr>
              <a:t>Y01=C, Y02=A, Y03=C … / 예외 상품은 product_id와 희망 규격 단위를 함께 기재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2743</Words>
  <Application>Microsoft Office PowerPoint</Application>
  <PresentationFormat>와이드스크린</PresentationFormat>
  <Paragraphs>396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홈스타일 조합상품 3D 규격 고객 결정안</dc:title>
  <dc:subject>149개 조합상품의 구성품·전체규격·수량·부속품 처리 기준</dc:subject>
  <dc:creator>LG HomeStyle Data PoC</dc:creator>
  <cp:keywords>HomeStyle, 3D, 조합상품, WDH, 고객결정</cp:keywords>
  <dc:description>generated using python-pptx</dc:description>
  <cp:lastModifiedBy>서상원</cp:lastModifiedBy>
  <cp:revision>2</cp:revision>
  <dcterms:created xsi:type="dcterms:W3CDTF">2013-01-27T09:14:16Z</dcterms:created>
  <dcterms:modified xsi:type="dcterms:W3CDTF">2026-07-28T10:09:50Z</dcterms:modified>
  <cp:category/>
</cp:coreProperties>
</file>